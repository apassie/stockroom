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Parth. This is Stockroom, an inventory app for a small shop or warehouse. I can add products, record sales and restocks, and see what needs reordering. Every stock change is recorded, and the app rejects changes that would make stock negative. Here's how I built and deployed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React, the backend is FastAPI, and the database is PostgreSQL. Nginx routes API requests to the backend, and Alembic handles database changes. Locally, Docker Compose starts all three services. The containers wait for their dependencies to be healthy, and both application images run as non-root users.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push starts GitHub Actions. It runs twenty-two backend tests, builds the frontend, and checks the Helm chart. Then it builds both Docker images and scans them with Trivy before publishing to GitHub Container Registry. The scan actually caught issues in Starlette. I upgraded the dependencies and checked again before deploying.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Terraform to create the AWS network and EKS cluster, then Helm to deploy the app. Ingress sends browser requests to the frontend or API. PostgreSQL uses persistent storage, and readiness checks keep traffic away from a backend that cannot reach the database. These screenshots are from the completed AWS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load test, the backend scaled from two pods to eight. Prometheus collected the metrics, and Grafana showed requests, latency, errors, and replica count. I also added a counter for stock movements. The alerts cover a backend going down, too many errors, and slow requests.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deployment demo, I changed the page subtitle, committed it, and pushed. The pipeline passed, published the images, and upgraded the app through Helm. The new pods became ready before the old ones stopped. The updated subtitle then appeared in the browser. These captures show that change from commit to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also tested four failures: a bad image tag, a wrong Service selector, a wrong database host, and a low memory limit. I used pod events and logs to find and fix each issue. After the demo, I removed the deployment and ran Terraform destroy, which removed sixty resources. The code and demo files are in my GitHub repository.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THE PROJECT</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01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Stockroom</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TextBox 9"/>
          <p:cNvSpPr txBox="1"/>
          <p:nvPr/>
        </p:nvSpPr>
        <p:spPr>
          <a:xfrm>
            <a:off x="457200" y="1720850"/>
            <a:ext cx="3302000" cy="828675"/>
          </a:xfrm>
          <a:prstGeom prst="rect">
            <a:avLst/>
          </a:prstGeom>
          <a:noFill/>
        </p:spPr>
        <p:txBody>
          <a:bodyPr wrap="none" lIns="0" rIns="0" tIns="0" bIns="0" anchor="t">
            <a:spAutoFit/>
          </a:bodyPr>
          <a:lstStyle/>
          <a:p>
            <a:pPr>
              <a:lnSpc>
                <a:spcPts val="2667"/>
              </a:lnSpc>
              <a:spcBef>
                <a:spcPts val="0"/>
              </a:spcBef>
              <a:spcAft>
                <a:spcPts val="0"/>
              </a:spcAft>
              <a:defRPr sz="2100" b="1">
                <a:solidFill>
                  <a:srgbClr val="F0F4F8"/>
                </a:solidFill>
                <a:latin typeface="Roboto"/>
              </a:defRPr>
            </a:pPr>
            <a:r>
              <a:t>Inventory management</a:t>
            </a:r>
          </a:p>
        </p:txBody>
      </p:sp>
      <p:sp>
        <p:nvSpPr>
          <p:cNvPr id="11" name="TextBox 10"/>
          <p:cNvSpPr txBox="1"/>
          <p:nvPr/>
        </p:nvSpPr>
        <p:spPr>
          <a:xfrm>
            <a:off x="457200" y="2717800"/>
            <a:ext cx="3238500" cy="1069975"/>
          </a:xfrm>
          <a:prstGeom prst="rect">
            <a:avLst/>
          </a:prstGeom>
          <a:noFill/>
        </p:spPr>
        <p:txBody>
          <a:bodyPr wrap="none" lIns="0" rIns="0" tIns="0" bIns="0" anchor="t">
            <a:spAutoFit/>
          </a:bodyPr>
          <a:lstStyle/>
          <a:p>
            <a:pPr>
              <a:lnSpc>
                <a:spcPts val="2159"/>
              </a:lnSpc>
              <a:spcBef>
                <a:spcPts val="0"/>
              </a:spcBef>
              <a:spcAft>
                <a:spcPts val="0"/>
              </a:spcAft>
              <a:defRPr sz="1700" b="0">
                <a:solidFill>
                  <a:srgbClr val="A5B3C0"/>
                </a:solidFill>
                <a:latin typeface="Roboto"/>
              </a:defRPr>
            </a:pPr>
            <a:r>
              <a:t>Products, stock levels and</a:t>
            </a:r>
          </a:p>
          <a:p>
            <a:pPr>
              <a:lnSpc>
                <a:spcPts val="2159"/>
              </a:lnSpc>
              <a:spcBef>
                <a:spcPts val="0"/>
              </a:spcBef>
              <a:spcAft>
                <a:spcPts val="0"/>
              </a:spcAft>
              <a:defRPr sz="1700" b="0">
                <a:solidFill>
                  <a:srgbClr val="A5B3C0"/>
                </a:solidFill>
                <a:latin typeface="Roboto"/>
              </a:defRPr>
            </a:pPr>
            <a:r>
              <a:t>movement history.</a:t>
            </a:r>
          </a:p>
        </p:txBody>
      </p:sp>
      <p:sp>
        <p:nvSpPr>
          <p:cNvPr id="12" name="TextBox 11"/>
          <p:cNvSpPr txBox="1"/>
          <p:nvPr/>
        </p:nvSpPr>
        <p:spPr>
          <a:xfrm>
            <a:off x="457200" y="4203700"/>
            <a:ext cx="3302000" cy="6143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56DFEA"/>
                </a:solidFill>
                <a:latin typeface="Roboto"/>
              </a:defRPr>
            </a:pPr>
            <a:r>
              <a:t>React / FastAPI / PostgreSQL</a:t>
            </a:r>
          </a:p>
        </p:txBody>
      </p:sp>
      <p:sp>
        <p:nvSpPr>
          <p:cNvPr id="13" name="TextBox 12"/>
          <p:cNvSpPr txBox="1"/>
          <p:nvPr/>
        </p:nvSpPr>
        <p:spPr>
          <a:xfrm>
            <a:off x="457200" y="5283200"/>
            <a:ext cx="3238500" cy="474662"/>
          </a:xfrm>
          <a:prstGeom prst="rect">
            <a:avLst/>
          </a:prstGeom>
          <a:noFill/>
        </p:spPr>
        <p:txBody>
          <a:bodyPr wrap="none" lIns="0" rIns="0" tIns="0" bIns="0" anchor="t">
            <a:spAutoFit/>
          </a:bodyPr>
          <a:lstStyle/>
          <a:p>
            <a:pPr>
              <a:lnSpc>
                <a:spcPts val="2476"/>
              </a:lnSpc>
              <a:spcBef>
                <a:spcPts val="0"/>
              </a:spcBef>
              <a:spcAft>
                <a:spcPts val="0"/>
              </a:spcAft>
              <a:defRPr sz="1950" b="0">
                <a:solidFill>
                  <a:srgbClr val="F0F4F8"/>
                </a:solidFill>
                <a:latin typeface="Roboto"/>
              </a:defRPr>
            </a:pPr>
            <a:r>
              <a:t>Parth Sankhla</a:t>
            </a:r>
          </a:p>
        </p:txBody>
      </p:sp>
      <p:sp>
        <p:nvSpPr>
          <p:cNvPr id="14" name="Rectangle 13"/>
          <p:cNvSpPr/>
          <p:nvPr/>
        </p:nvSpPr>
        <p:spPr>
          <a:xfrm>
            <a:off x="4140200" y="1746250"/>
            <a:ext cx="7594600" cy="44450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9-compose-localhost-3000.png"/>
          <p:cNvPicPr>
            <a:picLocks noChangeAspect="1"/>
          </p:cNvPicPr>
          <p:nvPr/>
        </p:nvPicPr>
        <p:blipFill>
          <a:blip r:embed="rId3"/>
          <a:stretch>
            <a:fillRect/>
          </a:stretch>
        </p:blipFill>
        <p:spPr>
          <a:xfrm>
            <a:off x="4523740" y="1835150"/>
            <a:ext cx="6827520" cy="426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THE SETUP</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02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How it runs</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Rectangle 9"/>
          <p:cNvSpPr/>
          <p:nvPr/>
        </p:nvSpPr>
        <p:spPr>
          <a:xfrm>
            <a:off x="457200" y="1854200"/>
            <a:ext cx="3302000" cy="12382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54200"/>
            <a:ext cx="25400" cy="12382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2006600"/>
            <a:ext cx="2997200" cy="430212"/>
          </a:xfrm>
          <a:prstGeom prst="rect">
            <a:avLst/>
          </a:prstGeom>
          <a:noFill/>
        </p:spPr>
        <p:txBody>
          <a:bodyPr wrap="none" lIns="0" rIns="0" tIns="0" bIns="0" anchor="t">
            <a:spAutoFit/>
          </a:bodyPr>
          <a:lstStyle/>
          <a:p>
            <a:pPr>
              <a:lnSpc>
                <a:spcPts val="1968"/>
              </a:lnSpc>
              <a:spcBef>
                <a:spcPts val="0"/>
              </a:spcBef>
              <a:spcAft>
                <a:spcPts val="0"/>
              </a:spcAft>
              <a:defRPr sz="1550" b="1">
                <a:solidFill>
                  <a:srgbClr val="F0F4F8"/>
                </a:solidFill>
                <a:latin typeface="Roboto"/>
              </a:defRPr>
            </a:pPr>
            <a:r>
              <a:t>React + Nginx</a:t>
            </a:r>
          </a:p>
        </p:txBody>
      </p:sp>
      <p:sp>
        <p:nvSpPr>
          <p:cNvPr id="13" name="TextBox 12"/>
          <p:cNvSpPr txBox="1"/>
          <p:nvPr/>
        </p:nvSpPr>
        <p:spPr>
          <a:xfrm>
            <a:off x="609600" y="2381250"/>
            <a:ext cx="2997200" cy="674687"/>
          </a:xfrm>
          <a:prstGeom prst="rect">
            <a:avLst/>
          </a:prstGeom>
          <a:noFill/>
        </p:spPr>
        <p:txBody>
          <a:bodyPr wrap="none" lIns="0" rIns="0" tIns="0" bIns="0" anchor="t">
            <a:spAutoFit/>
          </a:bodyPr>
          <a:lstStyle/>
          <a:p>
            <a:pPr>
              <a:lnSpc>
                <a:spcPts val="1587"/>
              </a:lnSpc>
              <a:spcBef>
                <a:spcPts val="0"/>
              </a:spcBef>
              <a:spcAft>
                <a:spcPts val="0"/>
              </a:spcAft>
              <a:defRPr sz="1250" b="0">
                <a:solidFill>
                  <a:srgbClr val="A5B3C0"/>
                </a:solidFill>
                <a:latin typeface="Roboto"/>
              </a:defRPr>
            </a:pPr>
            <a:r>
              <a:t>The UI sends requests to the API.</a:t>
            </a:r>
          </a:p>
        </p:txBody>
      </p:sp>
      <p:sp>
        <p:nvSpPr>
          <p:cNvPr id="14" name="Rectangle 13"/>
          <p:cNvSpPr/>
          <p:nvPr/>
        </p:nvSpPr>
        <p:spPr>
          <a:xfrm>
            <a:off x="4445000" y="1854200"/>
            <a:ext cx="3302000" cy="12382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5000" y="1854200"/>
            <a:ext cx="25400" cy="12382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400" y="2006600"/>
            <a:ext cx="2997200" cy="430212"/>
          </a:xfrm>
          <a:prstGeom prst="rect">
            <a:avLst/>
          </a:prstGeom>
          <a:noFill/>
        </p:spPr>
        <p:txBody>
          <a:bodyPr wrap="none" lIns="0" rIns="0" tIns="0" bIns="0" anchor="t">
            <a:spAutoFit/>
          </a:bodyPr>
          <a:lstStyle/>
          <a:p>
            <a:pPr>
              <a:lnSpc>
                <a:spcPts val="1968"/>
              </a:lnSpc>
              <a:spcBef>
                <a:spcPts val="0"/>
              </a:spcBef>
              <a:spcAft>
                <a:spcPts val="0"/>
              </a:spcAft>
              <a:defRPr sz="1550" b="1">
                <a:solidFill>
                  <a:srgbClr val="F0F4F8"/>
                </a:solidFill>
                <a:latin typeface="Roboto"/>
              </a:defRPr>
            </a:pPr>
            <a:r>
              <a:t>FastAPI</a:t>
            </a:r>
          </a:p>
        </p:txBody>
      </p:sp>
      <p:sp>
        <p:nvSpPr>
          <p:cNvPr id="17" name="TextBox 16"/>
          <p:cNvSpPr txBox="1"/>
          <p:nvPr/>
        </p:nvSpPr>
        <p:spPr>
          <a:xfrm>
            <a:off x="4597400" y="2381250"/>
            <a:ext cx="2997200" cy="674687"/>
          </a:xfrm>
          <a:prstGeom prst="rect">
            <a:avLst/>
          </a:prstGeom>
          <a:noFill/>
        </p:spPr>
        <p:txBody>
          <a:bodyPr wrap="none" lIns="0" rIns="0" tIns="0" bIns="0" anchor="t">
            <a:spAutoFit/>
          </a:bodyPr>
          <a:lstStyle/>
          <a:p>
            <a:pPr>
              <a:lnSpc>
                <a:spcPts val="1587"/>
              </a:lnSpc>
              <a:spcBef>
                <a:spcPts val="0"/>
              </a:spcBef>
              <a:spcAft>
                <a:spcPts val="0"/>
              </a:spcAft>
              <a:defRPr sz="1250" b="0">
                <a:solidFill>
                  <a:srgbClr val="A5B3C0"/>
                </a:solidFill>
                <a:latin typeface="Roboto"/>
              </a:defRPr>
            </a:pPr>
            <a:r>
              <a:t>Product and stock operations.</a:t>
            </a:r>
          </a:p>
        </p:txBody>
      </p:sp>
      <p:sp>
        <p:nvSpPr>
          <p:cNvPr id="18" name="Rectangle 17"/>
          <p:cNvSpPr/>
          <p:nvPr/>
        </p:nvSpPr>
        <p:spPr>
          <a:xfrm>
            <a:off x="8432800" y="1854200"/>
            <a:ext cx="3302000" cy="12382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2800" y="1854200"/>
            <a:ext cx="25400" cy="1238250"/>
          </a:xfrm>
          <a:prstGeom prst="rect">
            <a:avLst/>
          </a:prstGeom>
          <a:solidFill>
            <a:srgbClr val="C5F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5200" y="2006600"/>
            <a:ext cx="2997200" cy="430212"/>
          </a:xfrm>
          <a:prstGeom prst="rect">
            <a:avLst/>
          </a:prstGeom>
          <a:noFill/>
        </p:spPr>
        <p:txBody>
          <a:bodyPr wrap="none" lIns="0" rIns="0" tIns="0" bIns="0" anchor="t">
            <a:spAutoFit/>
          </a:bodyPr>
          <a:lstStyle/>
          <a:p>
            <a:pPr>
              <a:lnSpc>
                <a:spcPts val="1968"/>
              </a:lnSpc>
              <a:spcBef>
                <a:spcPts val="0"/>
              </a:spcBef>
              <a:spcAft>
                <a:spcPts val="0"/>
              </a:spcAft>
              <a:defRPr sz="1550" b="1">
                <a:solidFill>
                  <a:srgbClr val="F0F4F8"/>
                </a:solidFill>
                <a:latin typeface="Roboto"/>
              </a:defRPr>
            </a:pPr>
            <a:r>
              <a:t>PostgreSQL</a:t>
            </a:r>
          </a:p>
        </p:txBody>
      </p:sp>
      <p:sp>
        <p:nvSpPr>
          <p:cNvPr id="21" name="TextBox 20"/>
          <p:cNvSpPr txBox="1"/>
          <p:nvPr/>
        </p:nvSpPr>
        <p:spPr>
          <a:xfrm>
            <a:off x="8585200" y="2381250"/>
            <a:ext cx="2997200" cy="674687"/>
          </a:xfrm>
          <a:prstGeom prst="rect">
            <a:avLst/>
          </a:prstGeom>
          <a:noFill/>
        </p:spPr>
        <p:txBody>
          <a:bodyPr wrap="none" lIns="0" rIns="0" tIns="0" bIns="0" anchor="t">
            <a:spAutoFit/>
          </a:bodyPr>
          <a:lstStyle/>
          <a:p>
            <a:pPr>
              <a:lnSpc>
                <a:spcPts val="1587"/>
              </a:lnSpc>
              <a:spcBef>
                <a:spcPts val="0"/>
              </a:spcBef>
              <a:spcAft>
                <a:spcPts val="0"/>
              </a:spcAft>
              <a:defRPr sz="1250" b="0">
                <a:solidFill>
                  <a:srgbClr val="A5B3C0"/>
                </a:solidFill>
                <a:latin typeface="Roboto"/>
              </a:defRPr>
            </a:pPr>
            <a:r>
              <a:t>Application data and stock history.</a:t>
            </a:r>
          </a:p>
        </p:txBody>
      </p:sp>
      <p:cxnSp>
        <p:nvCxnSpPr>
          <p:cNvPr id="22" name="Connector 21"/>
          <p:cNvCxnSpPr/>
          <p:nvPr/>
        </p:nvCxnSpPr>
        <p:spPr>
          <a:xfrm>
            <a:off x="3759200" y="2470150"/>
            <a:ext cx="685800" cy="0"/>
          </a:xfrm>
          <a:prstGeom prst="line">
            <a:avLst/>
          </a:prstGeom>
          <a:ln w="19050">
            <a:solidFill>
              <a:srgbClr val="56DFE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47000" y="2470150"/>
            <a:ext cx="685800" cy="0"/>
          </a:xfrm>
          <a:prstGeom prst="line">
            <a:avLst/>
          </a:prstGeom>
          <a:ln w="19050">
            <a:solidFill>
              <a:srgbClr val="C5F47A"/>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57200" y="3702050"/>
            <a:ext cx="11277600" cy="9207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956050"/>
            <a:ext cx="10731500" cy="512762"/>
          </a:xfrm>
          <a:prstGeom prst="rect">
            <a:avLst/>
          </a:prstGeom>
          <a:noFill/>
        </p:spPr>
        <p:txBody>
          <a:bodyPr wrap="none" lIns="0" rIns="0" tIns="0" bIns="0" anchor="t">
            <a:spAutoFit/>
          </a:bodyPr>
          <a:lstStyle/>
          <a:p>
            <a:pPr>
              <a:lnSpc>
                <a:spcPts val="2730"/>
              </a:lnSpc>
              <a:spcBef>
                <a:spcPts val="0"/>
              </a:spcBef>
              <a:spcAft>
                <a:spcPts val="0"/>
              </a:spcAft>
              <a:defRPr sz="2150" b="0">
                <a:solidFill>
                  <a:srgbClr val="56DFEA"/>
                </a:solidFill>
                <a:latin typeface="Noto Sans Mono"/>
              </a:defRPr>
            </a:pPr>
            <a:r>
              <a:t>$ docker compose up --build</a:t>
            </a:r>
          </a:p>
        </p:txBody>
      </p:sp>
      <p:sp>
        <p:nvSpPr>
          <p:cNvPr id="26" name="TextBox 25"/>
          <p:cNvSpPr txBox="1"/>
          <p:nvPr/>
        </p:nvSpPr>
        <p:spPr>
          <a:xfrm>
            <a:off x="457200" y="5092700"/>
            <a:ext cx="10985500" cy="690562"/>
          </a:xfrm>
          <a:prstGeom prst="rect">
            <a:avLst/>
          </a:prstGeom>
          <a:noFill/>
        </p:spPr>
        <p:txBody>
          <a:bodyPr wrap="none" lIns="0" rIns="0" tIns="0" bIns="0" anchor="t">
            <a:spAutoFit/>
          </a:bodyPr>
          <a:lstStyle/>
          <a:p>
            <a:pPr>
              <a:lnSpc>
                <a:spcPts val="2222"/>
              </a:lnSpc>
              <a:spcBef>
                <a:spcPts val="0"/>
              </a:spcBef>
              <a:spcAft>
                <a:spcPts val="0"/>
              </a:spcAft>
              <a:defRPr sz="1750" b="0">
                <a:solidFill>
                  <a:srgbClr val="A5B3C0"/>
                </a:solidFill>
                <a:latin typeface="Roboto"/>
              </a:defRPr>
            </a:pPr>
            <a:r>
              <a:t>Health checks control startup. Alembic runs database migrations.</a:t>
            </a:r>
          </a:p>
        </p:txBody>
      </p:sp>
      <p:sp>
        <p:nvSpPr>
          <p:cNvPr id="27" name="TextBox 26"/>
          <p:cNvSpPr txBox="1"/>
          <p:nvPr/>
        </p:nvSpPr>
        <p:spPr>
          <a:xfrm>
            <a:off x="457200" y="5835650"/>
            <a:ext cx="10795000" cy="365125"/>
          </a:xfrm>
          <a:prstGeom prst="rect">
            <a:avLst/>
          </a:prstGeom>
          <a:noFill/>
        </p:spPr>
        <p:txBody>
          <a:bodyPr wrap="none" lIns="0" rIns="0" tIns="0" bIns="0" anchor="t">
            <a:spAutoFit/>
          </a:bodyPr>
          <a:lstStyle/>
          <a:p>
            <a:pPr>
              <a:lnSpc>
                <a:spcPts val="1905"/>
              </a:lnSpc>
              <a:spcBef>
                <a:spcPts val="0"/>
              </a:spcBef>
              <a:spcAft>
                <a:spcPts val="0"/>
              </a:spcAft>
              <a:defRPr sz="1500" b="0">
                <a:solidFill>
                  <a:srgbClr val="F0F4F8"/>
                </a:solidFill>
                <a:latin typeface="Roboto"/>
              </a:defRPr>
            </a:pPr>
            <a:r>
              <a:t>Both application images run as non-root users.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TESTS AND DELIVERY</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03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What happens when I push code</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TextBox 9"/>
          <p:cNvSpPr txBox="1"/>
          <p:nvPr/>
        </p:nvSpPr>
        <p:spPr>
          <a:xfrm>
            <a:off x="457200" y="18542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01</a:t>
            </a:r>
          </a:p>
        </p:txBody>
      </p:sp>
      <p:sp>
        <p:nvSpPr>
          <p:cNvPr id="11" name="TextBox 10"/>
          <p:cNvSpPr txBox="1"/>
          <p:nvPr/>
        </p:nvSpPr>
        <p:spPr>
          <a:xfrm>
            <a:off x="457200" y="21272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22 passing tests</a:t>
            </a:r>
          </a:p>
        </p:txBody>
      </p:sp>
      <p:sp>
        <p:nvSpPr>
          <p:cNvPr id="12" name="TextBox 11"/>
          <p:cNvSpPr txBox="1"/>
          <p:nvPr/>
        </p:nvSpPr>
        <p:spPr>
          <a:xfrm>
            <a:off x="457200" y="24765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Product operations, validation and stock</a:t>
            </a:r>
          </a:p>
          <a:p>
            <a:pPr>
              <a:lnSpc>
                <a:spcPts val="1714"/>
              </a:lnSpc>
              <a:spcBef>
                <a:spcPts val="0"/>
              </a:spcBef>
              <a:spcAft>
                <a:spcPts val="0"/>
              </a:spcAft>
              <a:defRPr sz="1350" b="0">
                <a:solidFill>
                  <a:srgbClr val="A5B3C0"/>
                </a:solidFill>
                <a:latin typeface="Roboto"/>
              </a:defRPr>
            </a:pPr>
            <a:r>
              <a:t>changes.</a:t>
            </a:r>
          </a:p>
        </p:txBody>
      </p:sp>
      <p:sp>
        <p:nvSpPr>
          <p:cNvPr id="13" name="TextBox 12"/>
          <p:cNvSpPr txBox="1"/>
          <p:nvPr/>
        </p:nvSpPr>
        <p:spPr>
          <a:xfrm>
            <a:off x="457200" y="311785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02</a:t>
            </a:r>
          </a:p>
        </p:txBody>
      </p:sp>
      <p:sp>
        <p:nvSpPr>
          <p:cNvPr id="14" name="TextBox 13"/>
          <p:cNvSpPr txBox="1"/>
          <p:nvPr/>
        </p:nvSpPr>
        <p:spPr>
          <a:xfrm>
            <a:off x="457200" y="339090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GitHub Actions</a:t>
            </a:r>
          </a:p>
        </p:txBody>
      </p:sp>
      <p:sp>
        <p:nvSpPr>
          <p:cNvPr id="15" name="TextBox 14"/>
          <p:cNvSpPr txBox="1"/>
          <p:nvPr/>
        </p:nvSpPr>
        <p:spPr>
          <a:xfrm>
            <a:off x="457200" y="374015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Tests and builds run before publishing.</a:t>
            </a:r>
          </a:p>
        </p:txBody>
      </p:sp>
      <p:sp>
        <p:nvSpPr>
          <p:cNvPr id="16" name="TextBox 15"/>
          <p:cNvSpPr txBox="1"/>
          <p:nvPr/>
        </p:nvSpPr>
        <p:spPr>
          <a:xfrm>
            <a:off x="457200" y="43815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03</a:t>
            </a:r>
          </a:p>
        </p:txBody>
      </p:sp>
      <p:sp>
        <p:nvSpPr>
          <p:cNvPr id="17" name="TextBox 16"/>
          <p:cNvSpPr txBox="1"/>
          <p:nvPr/>
        </p:nvSpPr>
        <p:spPr>
          <a:xfrm>
            <a:off x="457200" y="46545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Trivy + GHCR</a:t>
            </a:r>
          </a:p>
        </p:txBody>
      </p:sp>
      <p:sp>
        <p:nvSpPr>
          <p:cNvPr id="18" name="TextBox 17"/>
          <p:cNvSpPr txBox="1"/>
          <p:nvPr/>
        </p:nvSpPr>
        <p:spPr>
          <a:xfrm>
            <a:off x="457200" y="50038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Scan the images, then publish with the</a:t>
            </a:r>
          </a:p>
          <a:p>
            <a:pPr>
              <a:lnSpc>
                <a:spcPts val="1714"/>
              </a:lnSpc>
              <a:spcBef>
                <a:spcPts val="0"/>
              </a:spcBef>
              <a:spcAft>
                <a:spcPts val="0"/>
              </a:spcAft>
              <a:defRPr sz="1350" b="0">
                <a:solidFill>
                  <a:srgbClr val="A5B3C0"/>
                </a:solidFill>
                <a:latin typeface="Roboto"/>
              </a:defRPr>
            </a:pPr>
            <a:r>
              <a:t>commit SHA.</a:t>
            </a:r>
          </a:p>
        </p:txBody>
      </p:sp>
      <p:sp>
        <p:nvSpPr>
          <p:cNvPr id="19" name="Rectangle 18"/>
          <p:cNvSpPr/>
          <p:nvPr/>
        </p:nvSpPr>
        <p:spPr>
          <a:xfrm>
            <a:off x="4140200" y="1746250"/>
            <a:ext cx="7594600" cy="27178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3-pipeline-green.png"/>
          <p:cNvPicPr>
            <a:picLocks noChangeAspect="1"/>
          </p:cNvPicPr>
          <p:nvPr/>
        </p:nvPicPr>
        <p:blipFill>
          <a:blip r:embed="rId3"/>
          <a:stretch>
            <a:fillRect/>
          </a:stretch>
        </p:blipFill>
        <p:spPr>
          <a:xfrm>
            <a:off x="5432294" y="1835150"/>
            <a:ext cx="5010410" cy="2540000"/>
          </a:xfrm>
          <a:prstGeom prst="rect">
            <a:avLst/>
          </a:prstGeom>
        </p:spPr>
      </p:pic>
      <p:sp>
        <p:nvSpPr>
          <p:cNvPr id="21" name="Rectangle 20"/>
          <p:cNvSpPr/>
          <p:nvPr/>
        </p:nvSpPr>
        <p:spPr>
          <a:xfrm>
            <a:off x="4140200" y="4591050"/>
            <a:ext cx="7594600" cy="16002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6b-cve-fixed.png"/>
          <p:cNvPicPr>
            <a:picLocks noChangeAspect="1"/>
          </p:cNvPicPr>
          <p:nvPr/>
        </p:nvPicPr>
        <p:blipFill>
          <a:blip r:embed="rId4"/>
          <a:stretch>
            <a:fillRect/>
          </a:stretch>
        </p:blipFill>
        <p:spPr>
          <a:xfrm>
            <a:off x="5686945" y="4679950"/>
            <a:ext cx="4501108" cy="1054100"/>
          </a:xfrm>
          <a:prstGeom prst="rect">
            <a:avLst/>
          </a:prstGeom>
        </p:spPr>
      </p:pic>
      <p:sp>
        <p:nvSpPr>
          <p:cNvPr id="23" name="TextBox 22"/>
          <p:cNvSpPr txBox="1"/>
          <p:nvPr/>
        </p:nvSpPr>
        <p:spPr>
          <a:xfrm>
            <a:off x="4279900" y="5918200"/>
            <a:ext cx="73152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Trivy scan after the dependency update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DEPLOYMENT</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04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Running on AWS</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TextBox 9"/>
          <p:cNvSpPr txBox="1"/>
          <p:nvPr/>
        </p:nvSpPr>
        <p:spPr>
          <a:xfrm>
            <a:off x="457200" y="18542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01</a:t>
            </a:r>
          </a:p>
        </p:txBody>
      </p:sp>
      <p:sp>
        <p:nvSpPr>
          <p:cNvPr id="11" name="TextBox 10"/>
          <p:cNvSpPr txBox="1"/>
          <p:nvPr/>
        </p:nvSpPr>
        <p:spPr>
          <a:xfrm>
            <a:off x="457200" y="21272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Terraform</a:t>
            </a:r>
          </a:p>
        </p:txBody>
      </p:sp>
      <p:sp>
        <p:nvSpPr>
          <p:cNvPr id="12" name="TextBox 11"/>
          <p:cNvSpPr txBox="1"/>
          <p:nvPr/>
        </p:nvSpPr>
        <p:spPr>
          <a:xfrm>
            <a:off x="457200" y="24765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Creates the VPC, subnets and EKS cluster.</a:t>
            </a:r>
          </a:p>
        </p:txBody>
      </p:sp>
      <p:sp>
        <p:nvSpPr>
          <p:cNvPr id="13" name="TextBox 12"/>
          <p:cNvSpPr txBox="1"/>
          <p:nvPr/>
        </p:nvSpPr>
        <p:spPr>
          <a:xfrm>
            <a:off x="457200" y="311785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02</a:t>
            </a:r>
          </a:p>
        </p:txBody>
      </p:sp>
      <p:sp>
        <p:nvSpPr>
          <p:cNvPr id="14" name="TextBox 13"/>
          <p:cNvSpPr txBox="1"/>
          <p:nvPr/>
        </p:nvSpPr>
        <p:spPr>
          <a:xfrm>
            <a:off x="457200" y="339090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Helm</a:t>
            </a:r>
          </a:p>
        </p:txBody>
      </p:sp>
      <p:sp>
        <p:nvSpPr>
          <p:cNvPr id="15" name="TextBox 14"/>
          <p:cNvSpPr txBox="1"/>
          <p:nvPr/>
        </p:nvSpPr>
        <p:spPr>
          <a:xfrm>
            <a:off x="457200" y="374015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Deploys the frontend, backend and</a:t>
            </a:r>
          </a:p>
          <a:p>
            <a:pPr>
              <a:lnSpc>
                <a:spcPts val="1714"/>
              </a:lnSpc>
              <a:spcBef>
                <a:spcPts val="0"/>
              </a:spcBef>
              <a:spcAft>
                <a:spcPts val="0"/>
              </a:spcAft>
              <a:defRPr sz="1350" b="0">
                <a:solidFill>
                  <a:srgbClr val="A5B3C0"/>
                </a:solidFill>
                <a:latin typeface="Roboto"/>
              </a:defRPr>
            </a:pPr>
            <a:r>
              <a:t>database.</a:t>
            </a:r>
          </a:p>
        </p:txBody>
      </p:sp>
      <p:sp>
        <p:nvSpPr>
          <p:cNvPr id="16" name="TextBox 15"/>
          <p:cNvSpPr txBox="1"/>
          <p:nvPr/>
        </p:nvSpPr>
        <p:spPr>
          <a:xfrm>
            <a:off x="457200" y="43815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03</a:t>
            </a:r>
          </a:p>
        </p:txBody>
      </p:sp>
      <p:sp>
        <p:nvSpPr>
          <p:cNvPr id="17" name="TextBox 16"/>
          <p:cNvSpPr txBox="1"/>
          <p:nvPr/>
        </p:nvSpPr>
        <p:spPr>
          <a:xfrm>
            <a:off x="457200" y="46545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Ingress</a:t>
            </a:r>
          </a:p>
        </p:txBody>
      </p:sp>
      <p:sp>
        <p:nvSpPr>
          <p:cNvPr id="18" name="TextBox 17"/>
          <p:cNvSpPr txBox="1"/>
          <p:nvPr/>
        </p:nvSpPr>
        <p:spPr>
          <a:xfrm>
            <a:off x="457200" y="50038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Routes browser requests to the right</a:t>
            </a:r>
          </a:p>
          <a:p>
            <a:pPr>
              <a:lnSpc>
                <a:spcPts val="1714"/>
              </a:lnSpc>
              <a:spcBef>
                <a:spcPts val="0"/>
              </a:spcBef>
              <a:spcAft>
                <a:spcPts val="0"/>
              </a:spcAft>
              <a:defRPr sz="1350" b="0">
                <a:solidFill>
                  <a:srgbClr val="A5B3C0"/>
                </a:solidFill>
                <a:latin typeface="Roboto"/>
              </a:defRPr>
            </a:pPr>
            <a:r>
              <a:t>service.</a:t>
            </a:r>
          </a:p>
        </p:txBody>
      </p:sp>
      <p:sp>
        <p:nvSpPr>
          <p:cNvPr id="19" name="Rectangle 18"/>
          <p:cNvSpPr/>
          <p:nvPr/>
        </p:nvSpPr>
        <p:spPr>
          <a:xfrm>
            <a:off x="4140200" y="1746250"/>
            <a:ext cx="7594600" cy="21653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25-aws-console-eks.png"/>
          <p:cNvPicPr>
            <a:picLocks noChangeAspect="1"/>
          </p:cNvPicPr>
          <p:nvPr/>
        </p:nvPicPr>
        <p:blipFill>
          <a:blip r:embed="rId3"/>
          <a:stretch>
            <a:fillRect/>
          </a:stretch>
        </p:blipFill>
        <p:spPr>
          <a:xfrm>
            <a:off x="6566416" y="1835150"/>
            <a:ext cx="2742167" cy="1619250"/>
          </a:xfrm>
          <a:prstGeom prst="rect">
            <a:avLst/>
          </a:prstGeom>
        </p:spPr>
      </p:pic>
      <p:sp>
        <p:nvSpPr>
          <p:cNvPr id="21" name="TextBox 20"/>
          <p:cNvSpPr txBox="1"/>
          <p:nvPr/>
        </p:nvSpPr>
        <p:spPr>
          <a:xfrm>
            <a:off x="4279900" y="3638550"/>
            <a:ext cx="73152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EKS deployment captured on 16 October 2026</a:t>
            </a:r>
          </a:p>
        </p:txBody>
      </p:sp>
      <p:sp>
        <p:nvSpPr>
          <p:cNvPr id="22" name="Rectangle 21"/>
          <p:cNvSpPr/>
          <p:nvPr/>
        </p:nvSpPr>
        <p:spPr>
          <a:xfrm>
            <a:off x="4140200" y="4038600"/>
            <a:ext cx="7594600" cy="21526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04-k8s-resources.png"/>
          <p:cNvPicPr>
            <a:picLocks noChangeAspect="1"/>
          </p:cNvPicPr>
          <p:nvPr/>
        </p:nvPicPr>
        <p:blipFill>
          <a:blip r:embed="rId4"/>
          <a:stretch>
            <a:fillRect/>
          </a:stretch>
        </p:blipFill>
        <p:spPr>
          <a:xfrm>
            <a:off x="5959863" y="4127500"/>
            <a:ext cx="3955272" cy="1606550"/>
          </a:xfrm>
          <a:prstGeom prst="rect">
            <a:avLst/>
          </a:prstGeom>
        </p:spPr>
      </p:pic>
      <p:sp>
        <p:nvSpPr>
          <p:cNvPr id="24" name="TextBox 23"/>
          <p:cNvSpPr txBox="1"/>
          <p:nvPr/>
        </p:nvSpPr>
        <p:spPr>
          <a:xfrm>
            <a:off x="4279900" y="5918200"/>
            <a:ext cx="73152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Application pods, services, ingress and storage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UNDER LOAD</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05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Scaling and monitoring</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TextBox 9"/>
          <p:cNvSpPr txBox="1"/>
          <p:nvPr/>
        </p:nvSpPr>
        <p:spPr>
          <a:xfrm>
            <a:off x="457200" y="18542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01</a:t>
            </a:r>
          </a:p>
        </p:txBody>
      </p:sp>
      <p:sp>
        <p:nvSpPr>
          <p:cNvPr id="11" name="TextBox 10"/>
          <p:cNvSpPr txBox="1"/>
          <p:nvPr/>
        </p:nvSpPr>
        <p:spPr>
          <a:xfrm>
            <a:off x="457200" y="21272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2 to 8 pods</a:t>
            </a:r>
          </a:p>
        </p:txBody>
      </p:sp>
      <p:sp>
        <p:nvSpPr>
          <p:cNvPr id="12" name="TextBox 11"/>
          <p:cNvSpPr txBox="1"/>
          <p:nvPr/>
        </p:nvSpPr>
        <p:spPr>
          <a:xfrm>
            <a:off x="457200" y="24765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Backend replicas increased during the</a:t>
            </a:r>
          </a:p>
          <a:p>
            <a:pPr>
              <a:lnSpc>
                <a:spcPts val="1714"/>
              </a:lnSpc>
              <a:spcBef>
                <a:spcPts val="0"/>
              </a:spcBef>
              <a:spcAft>
                <a:spcPts val="0"/>
              </a:spcAft>
              <a:defRPr sz="1350" b="0">
                <a:solidFill>
                  <a:srgbClr val="A5B3C0"/>
                </a:solidFill>
                <a:latin typeface="Roboto"/>
              </a:defRPr>
            </a:pPr>
            <a:r>
              <a:t>load test.</a:t>
            </a:r>
          </a:p>
        </p:txBody>
      </p:sp>
      <p:sp>
        <p:nvSpPr>
          <p:cNvPr id="13" name="TextBox 12"/>
          <p:cNvSpPr txBox="1"/>
          <p:nvPr/>
        </p:nvSpPr>
        <p:spPr>
          <a:xfrm>
            <a:off x="457200" y="311785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02</a:t>
            </a:r>
          </a:p>
        </p:txBody>
      </p:sp>
      <p:sp>
        <p:nvSpPr>
          <p:cNvPr id="14" name="TextBox 13"/>
          <p:cNvSpPr txBox="1"/>
          <p:nvPr/>
        </p:nvSpPr>
        <p:spPr>
          <a:xfrm>
            <a:off x="457200" y="339090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60% CPU target</a:t>
            </a:r>
          </a:p>
        </p:txBody>
      </p:sp>
      <p:sp>
        <p:nvSpPr>
          <p:cNvPr id="15" name="TextBox 14"/>
          <p:cNvSpPr txBox="1"/>
          <p:nvPr/>
        </p:nvSpPr>
        <p:spPr>
          <a:xfrm>
            <a:off x="457200" y="374015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The autoscaler uses CPU metrics.</a:t>
            </a:r>
          </a:p>
        </p:txBody>
      </p:sp>
      <p:sp>
        <p:nvSpPr>
          <p:cNvPr id="16" name="TextBox 15"/>
          <p:cNvSpPr txBox="1"/>
          <p:nvPr/>
        </p:nvSpPr>
        <p:spPr>
          <a:xfrm>
            <a:off x="457200" y="4381500"/>
            <a:ext cx="444500" cy="2524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03</a:t>
            </a:r>
          </a:p>
        </p:txBody>
      </p:sp>
      <p:sp>
        <p:nvSpPr>
          <p:cNvPr id="17" name="TextBox 16"/>
          <p:cNvSpPr txBox="1"/>
          <p:nvPr/>
        </p:nvSpPr>
        <p:spPr>
          <a:xfrm>
            <a:off x="457200" y="4654550"/>
            <a:ext cx="3238500" cy="5619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Prometheus + Grafana</a:t>
            </a:r>
          </a:p>
        </p:txBody>
      </p:sp>
      <p:sp>
        <p:nvSpPr>
          <p:cNvPr id="18" name="TextBox 17"/>
          <p:cNvSpPr txBox="1"/>
          <p:nvPr/>
        </p:nvSpPr>
        <p:spPr>
          <a:xfrm>
            <a:off x="457200" y="5003800"/>
            <a:ext cx="3238500" cy="779462"/>
          </a:xfrm>
          <a:prstGeom prst="rect">
            <a:avLst/>
          </a:prstGeom>
          <a:noFill/>
        </p:spPr>
        <p:txBody>
          <a:bodyPr wrap="none" lIns="0" rIns="0" tIns="0" bIns="0" anchor="t">
            <a:spAutoFit/>
          </a:bodyPr>
          <a:lstStyle/>
          <a:p>
            <a:pPr>
              <a:lnSpc>
                <a:spcPts val="1714"/>
              </a:lnSpc>
              <a:spcBef>
                <a:spcPts val="0"/>
              </a:spcBef>
              <a:spcAft>
                <a:spcPts val="0"/>
              </a:spcAft>
              <a:defRPr sz="1350" b="0">
                <a:solidFill>
                  <a:srgbClr val="A5B3C0"/>
                </a:solidFill>
                <a:latin typeface="Roboto"/>
              </a:defRPr>
            </a:pPr>
            <a:r>
              <a:t>Requests, latency, errors and replica</a:t>
            </a:r>
          </a:p>
          <a:p>
            <a:pPr>
              <a:lnSpc>
                <a:spcPts val="1714"/>
              </a:lnSpc>
              <a:spcBef>
                <a:spcPts val="0"/>
              </a:spcBef>
              <a:spcAft>
                <a:spcPts val="0"/>
              </a:spcAft>
              <a:defRPr sz="1350" b="0">
                <a:solidFill>
                  <a:srgbClr val="A5B3C0"/>
                </a:solidFill>
                <a:latin typeface="Roboto"/>
              </a:defRPr>
            </a:pPr>
            <a:r>
              <a:t>count.</a:t>
            </a:r>
          </a:p>
        </p:txBody>
      </p:sp>
      <p:sp>
        <p:nvSpPr>
          <p:cNvPr id="19" name="Rectangle 18"/>
          <p:cNvSpPr/>
          <p:nvPr/>
        </p:nvSpPr>
        <p:spPr>
          <a:xfrm>
            <a:off x="4140200" y="1746250"/>
            <a:ext cx="7594600" cy="44450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7-grafana-dashboard.png"/>
          <p:cNvPicPr>
            <a:picLocks noChangeAspect="1"/>
          </p:cNvPicPr>
          <p:nvPr/>
        </p:nvPicPr>
        <p:blipFill>
          <a:blip r:embed="rId3"/>
          <a:stretch>
            <a:fillRect/>
          </a:stretch>
        </p:blipFill>
        <p:spPr>
          <a:xfrm>
            <a:off x="5344770" y="1835150"/>
            <a:ext cx="5185458" cy="426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THE DEMO</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06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A change going live</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Rectangle 9"/>
          <p:cNvSpPr/>
          <p:nvPr/>
        </p:nvSpPr>
        <p:spPr>
          <a:xfrm>
            <a:off x="457200" y="1746250"/>
            <a:ext cx="5524500" cy="21399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7-demo-commit-push.png"/>
          <p:cNvPicPr>
            <a:picLocks noChangeAspect="1"/>
          </p:cNvPicPr>
          <p:nvPr/>
        </p:nvPicPr>
        <p:blipFill>
          <a:blip r:embed="rId3"/>
          <a:stretch>
            <a:fillRect/>
          </a:stretch>
        </p:blipFill>
        <p:spPr>
          <a:xfrm>
            <a:off x="1110790" y="1835150"/>
            <a:ext cx="4217318" cy="1593850"/>
          </a:xfrm>
          <a:prstGeom prst="rect">
            <a:avLst/>
          </a:prstGeom>
        </p:spPr>
      </p:pic>
      <p:sp>
        <p:nvSpPr>
          <p:cNvPr id="12" name="TextBox 11"/>
          <p:cNvSpPr txBox="1"/>
          <p:nvPr/>
        </p:nvSpPr>
        <p:spPr>
          <a:xfrm>
            <a:off x="596900" y="3613150"/>
            <a:ext cx="52451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1. Change the subtitle, commit and push</a:t>
            </a:r>
          </a:p>
        </p:txBody>
      </p:sp>
      <p:sp>
        <p:nvSpPr>
          <p:cNvPr id="13" name="Rectangle 12"/>
          <p:cNvSpPr/>
          <p:nvPr/>
        </p:nvSpPr>
        <p:spPr>
          <a:xfrm>
            <a:off x="457200" y="4013200"/>
            <a:ext cx="5524500" cy="217805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29-demo-pipeline-done.png"/>
          <p:cNvPicPr>
            <a:picLocks noChangeAspect="1"/>
          </p:cNvPicPr>
          <p:nvPr/>
        </p:nvPicPr>
        <p:blipFill>
          <a:blip r:embed="rId4"/>
          <a:stretch>
            <a:fillRect/>
          </a:stretch>
        </p:blipFill>
        <p:spPr>
          <a:xfrm>
            <a:off x="1913889" y="4102100"/>
            <a:ext cx="2611120" cy="1631950"/>
          </a:xfrm>
          <a:prstGeom prst="rect">
            <a:avLst/>
          </a:prstGeom>
        </p:spPr>
      </p:pic>
      <p:sp>
        <p:nvSpPr>
          <p:cNvPr id="15" name="TextBox 14"/>
          <p:cNvSpPr txBox="1"/>
          <p:nvPr/>
        </p:nvSpPr>
        <p:spPr>
          <a:xfrm>
            <a:off x="596900" y="5918200"/>
            <a:ext cx="52451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2. The pipeline finishes successfully</a:t>
            </a:r>
          </a:p>
        </p:txBody>
      </p:sp>
      <p:sp>
        <p:nvSpPr>
          <p:cNvPr id="16" name="Rectangle 15"/>
          <p:cNvSpPr/>
          <p:nvPr/>
        </p:nvSpPr>
        <p:spPr>
          <a:xfrm>
            <a:off x="6134100" y="1746250"/>
            <a:ext cx="5600700" cy="44450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30-demo-app-updated.png"/>
          <p:cNvPicPr>
            <a:picLocks noChangeAspect="1"/>
          </p:cNvPicPr>
          <p:nvPr/>
        </p:nvPicPr>
        <p:blipFill>
          <a:blip r:embed="rId5"/>
          <a:stretch>
            <a:fillRect/>
          </a:stretch>
        </p:blipFill>
        <p:spPr>
          <a:xfrm>
            <a:off x="6223000" y="2089943"/>
            <a:ext cx="5422900" cy="3389312"/>
          </a:xfrm>
          <a:prstGeom prst="rect">
            <a:avLst/>
          </a:prstGeom>
        </p:spPr>
      </p:pic>
      <p:sp>
        <p:nvSpPr>
          <p:cNvPr id="18" name="TextBox 17"/>
          <p:cNvSpPr txBox="1"/>
          <p:nvPr/>
        </p:nvSpPr>
        <p:spPr>
          <a:xfrm>
            <a:off x="6273800" y="5918200"/>
            <a:ext cx="53213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3. The updated subtitle appears in the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457200" y="381000"/>
            <a:ext cx="254000" cy="31750"/>
          </a:xfrm>
          <a:prstGeom prst="rect">
            <a:avLst/>
          </a:prstGeom>
          <a:solidFill>
            <a:srgbClr val="56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92100"/>
            <a:ext cx="8890000" cy="227012"/>
          </a:xfrm>
          <a:prstGeom prst="rect">
            <a:avLst/>
          </a:prstGeom>
          <a:noFill/>
        </p:spPr>
        <p:txBody>
          <a:bodyPr wrap="none" lIns="0" rIns="0" tIns="0" bIns="0" anchor="t">
            <a:spAutoFit/>
          </a:bodyPr>
          <a:lstStyle/>
          <a:p>
            <a:pPr>
              <a:lnSpc>
                <a:spcPts val="1460"/>
              </a:lnSpc>
              <a:spcBef>
                <a:spcPts val="0"/>
              </a:spcBef>
              <a:spcAft>
                <a:spcPts val="0"/>
              </a:spcAft>
              <a:defRPr sz="1150" b="0">
                <a:solidFill>
                  <a:srgbClr val="56DFEA"/>
                </a:solidFill>
                <a:latin typeface="Noto Sans Mono"/>
              </a:defRPr>
            </a:pPr>
            <a:r>
              <a:t>FIXES AND CLEANUP</a:t>
            </a:r>
          </a:p>
        </p:txBody>
      </p:sp>
      <p:sp>
        <p:nvSpPr>
          <p:cNvPr id="4" name="TextBox 3"/>
          <p:cNvSpPr txBox="1"/>
          <p:nvPr/>
        </p:nvSpPr>
        <p:spPr>
          <a:xfrm>
            <a:off x="10795000" y="292100"/>
            <a:ext cx="939800" cy="238125"/>
          </a:xfrm>
          <a:prstGeom prst="rect">
            <a:avLst/>
          </a:prstGeom>
          <a:noFill/>
        </p:spPr>
        <p:txBody>
          <a:bodyPr wrap="none" lIns="0" rIns="0" tIns="0" bIns="0" anchor="t">
            <a:spAutoFit/>
          </a:bodyPr>
          <a:lstStyle/>
          <a:p>
            <a:pPr>
              <a:lnSpc>
                <a:spcPts val="1397"/>
              </a:lnSpc>
              <a:spcBef>
                <a:spcPts val="0"/>
              </a:spcBef>
              <a:spcAft>
                <a:spcPts val="0"/>
              </a:spcAft>
              <a:defRPr sz="1100" b="0">
                <a:solidFill>
                  <a:srgbClr val="A5B3C0"/>
                </a:solidFill>
                <a:latin typeface="Noto Sans Mono"/>
              </a:defRPr>
            </a:pPr>
            <a:r>
              <a:t>07 / 07</a:t>
            </a:r>
          </a:p>
        </p:txBody>
      </p:sp>
      <p:sp>
        <p:nvSpPr>
          <p:cNvPr id="5" name="TextBox 4"/>
          <p:cNvSpPr txBox="1"/>
          <p:nvPr/>
        </p:nvSpPr>
        <p:spPr>
          <a:xfrm>
            <a:off x="457200" y="704850"/>
            <a:ext cx="11277600" cy="1041400"/>
          </a:xfrm>
          <a:prstGeom prst="rect">
            <a:avLst/>
          </a:prstGeom>
          <a:noFill/>
        </p:spPr>
        <p:txBody>
          <a:bodyPr wrap="none" lIns="0" rIns="0" tIns="0" bIns="0" anchor="t">
            <a:spAutoFit/>
          </a:bodyPr>
          <a:lstStyle/>
          <a:p>
            <a:pPr>
              <a:lnSpc>
                <a:spcPts val="4064"/>
              </a:lnSpc>
              <a:spcBef>
                <a:spcPts val="0"/>
              </a:spcBef>
              <a:spcAft>
                <a:spcPts val="0"/>
              </a:spcAft>
              <a:defRPr sz="3200" b="1">
                <a:solidFill>
                  <a:srgbClr val="F0F4F8"/>
                </a:solidFill>
                <a:latin typeface="Roboto"/>
              </a:defRPr>
            </a:pPr>
            <a:r>
              <a:t>What I fixed, and how I cleaned up</a:t>
            </a:r>
          </a:p>
        </p:txBody>
      </p:sp>
      <p:sp>
        <p:nvSpPr>
          <p:cNvPr id="6" name="Rectangle 5"/>
          <p:cNvSpPr/>
          <p:nvPr/>
        </p:nvSpPr>
        <p:spPr>
          <a:xfrm>
            <a:off x="457200" y="6413500"/>
            <a:ext cx="11277600" cy="6350"/>
          </a:xfrm>
          <a:prstGeom prst="rect">
            <a:avLst/>
          </a:prstGeom>
          <a:solidFill>
            <a:srgbClr val="25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4150"/>
            <a:ext cx="1587500" cy="195262"/>
          </a:xfrm>
          <a:prstGeom prst="rect">
            <a:avLst/>
          </a:prstGeom>
          <a:noFill/>
        </p:spPr>
        <p:txBody>
          <a:bodyPr wrap="none" lIns="0" rIns="0" tIns="0" bIns="0" anchor="t">
            <a:spAutoFit/>
          </a:bodyPr>
          <a:lstStyle/>
          <a:p>
            <a:pPr>
              <a:lnSpc>
                <a:spcPts val="1206"/>
              </a:lnSpc>
              <a:spcBef>
                <a:spcPts val="0"/>
              </a:spcBef>
              <a:spcAft>
                <a:spcPts val="0"/>
              </a:spcAft>
              <a:defRPr sz="950" b="1">
                <a:solidFill>
                  <a:srgbClr val="F0F4F8"/>
                </a:solidFill>
                <a:latin typeface="Roboto"/>
              </a:defRPr>
            </a:pPr>
            <a:r>
              <a:t>STOCKROOM</a:t>
            </a:r>
          </a:p>
        </p:txBody>
      </p:sp>
      <p:sp>
        <p:nvSpPr>
          <p:cNvPr id="8" name="TextBox 7"/>
          <p:cNvSpPr txBox="1"/>
          <p:nvPr/>
        </p:nvSpPr>
        <p:spPr>
          <a:xfrm>
            <a:off x="2254250" y="6534150"/>
            <a:ext cx="44450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A5B3C0"/>
                </a:solidFill>
                <a:latin typeface="Noto Sans Mono"/>
              </a:defRPr>
            </a:pPr>
            <a:r>
              <a:t>Parth Sankhla / 2024BCS10229</a:t>
            </a:r>
          </a:p>
        </p:txBody>
      </p:sp>
      <p:sp>
        <p:nvSpPr>
          <p:cNvPr id="9" name="TextBox 8"/>
          <p:cNvSpPr txBox="1"/>
          <p:nvPr/>
        </p:nvSpPr>
        <p:spPr>
          <a:xfrm>
            <a:off x="8128000" y="6534150"/>
            <a:ext cx="3606800" cy="195262"/>
          </a:xfrm>
          <a:prstGeom prst="rect">
            <a:avLst/>
          </a:prstGeom>
          <a:noFill/>
        </p:spPr>
        <p:txBody>
          <a:bodyPr wrap="none" lIns="0" rIns="0" tIns="0" bIns="0" anchor="t">
            <a:spAutoFit/>
          </a:bodyPr>
          <a:lstStyle/>
          <a:p>
            <a:pPr>
              <a:lnSpc>
                <a:spcPts val="1206"/>
              </a:lnSpc>
              <a:spcBef>
                <a:spcPts val="0"/>
              </a:spcBef>
              <a:spcAft>
                <a:spcPts val="0"/>
              </a:spcAft>
              <a:defRPr sz="950" b="0">
                <a:solidFill>
                  <a:srgbClr val="56DFEA"/>
                </a:solidFill>
                <a:latin typeface="Noto Sans Mono"/>
              </a:defRPr>
            </a:pPr>
            <a:r>
              <a:t>github.com/aPassie/stockroom</a:t>
            </a:r>
          </a:p>
        </p:txBody>
      </p:sp>
      <p:sp>
        <p:nvSpPr>
          <p:cNvPr id="10" name="TextBox 9"/>
          <p:cNvSpPr txBox="1"/>
          <p:nvPr/>
        </p:nvSpPr>
        <p:spPr>
          <a:xfrm>
            <a:off x="457200" y="1828800"/>
            <a:ext cx="5016500" cy="3587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Bad image tag</a:t>
            </a:r>
          </a:p>
        </p:txBody>
      </p:sp>
      <p:sp>
        <p:nvSpPr>
          <p:cNvPr id="11" name="TextBox 10"/>
          <p:cNvSpPr txBox="1"/>
          <p:nvPr/>
        </p:nvSpPr>
        <p:spPr>
          <a:xfrm>
            <a:off x="457200" y="2190750"/>
            <a:ext cx="5016500" cy="458787"/>
          </a:xfrm>
          <a:prstGeom prst="rect">
            <a:avLst/>
          </a:prstGeom>
          <a:noFill/>
        </p:spPr>
        <p:txBody>
          <a:bodyPr wrap="none" lIns="0" rIns="0" tIns="0" bIns="0" anchor="t">
            <a:spAutoFit/>
          </a:bodyPr>
          <a:lstStyle/>
          <a:p>
            <a:pPr>
              <a:lnSpc>
                <a:spcPts val="1841"/>
              </a:lnSpc>
              <a:spcBef>
                <a:spcPts val="0"/>
              </a:spcBef>
              <a:spcAft>
                <a:spcPts val="0"/>
              </a:spcAft>
              <a:defRPr sz="1450" b="0">
                <a:solidFill>
                  <a:srgbClr val="A5B3C0"/>
                </a:solidFill>
                <a:latin typeface="Roboto"/>
              </a:defRPr>
            </a:pPr>
            <a:r>
              <a:t>Use an image that exists.</a:t>
            </a:r>
          </a:p>
        </p:txBody>
      </p:sp>
      <p:sp>
        <p:nvSpPr>
          <p:cNvPr id="12" name="TextBox 11"/>
          <p:cNvSpPr txBox="1"/>
          <p:nvPr/>
        </p:nvSpPr>
        <p:spPr>
          <a:xfrm>
            <a:off x="457200" y="2800350"/>
            <a:ext cx="5016500" cy="3587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Service selector</a:t>
            </a:r>
          </a:p>
        </p:txBody>
      </p:sp>
      <p:sp>
        <p:nvSpPr>
          <p:cNvPr id="13" name="TextBox 12"/>
          <p:cNvSpPr txBox="1"/>
          <p:nvPr/>
        </p:nvSpPr>
        <p:spPr>
          <a:xfrm>
            <a:off x="457200" y="3162300"/>
            <a:ext cx="5016500" cy="458787"/>
          </a:xfrm>
          <a:prstGeom prst="rect">
            <a:avLst/>
          </a:prstGeom>
          <a:noFill/>
        </p:spPr>
        <p:txBody>
          <a:bodyPr wrap="none" lIns="0" rIns="0" tIns="0" bIns="0" anchor="t">
            <a:spAutoFit/>
          </a:bodyPr>
          <a:lstStyle/>
          <a:p>
            <a:pPr>
              <a:lnSpc>
                <a:spcPts val="1841"/>
              </a:lnSpc>
              <a:spcBef>
                <a:spcPts val="0"/>
              </a:spcBef>
              <a:spcAft>
                <a:spcPts val="0"/>
              </a:spcAft>
              <a:defRPr sz="1450" b="0">
                <a:solidFill>
                  <a:srgbClr val="A5B3C0"/>
                </a:solidFill>
                <a:latin typeface="Roboto"/>
              </a:defRPr>
            </a:pPr>
            <a:r>
              <a:t>Match the pod labels.</a:t>
            </a:r>
          </a:p>
        </p:txBody>
      </p:sp>
      <p:sp>
        <p:nvSpPr>
          <p:cNvPr id="14" name="TextBox 13"/>
          <p:cNvSpPr txBox="1"/>
          <p:nvPr/>
        </p:nvSpPr>
        <p:spPr>
          <a:xfrm>
            <a:off x="457200" y="3771900"/>
            <a:ext cx="5016500" cy="3587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Database host</a:t>
            </a:r>
          </a:p>
        </p:txBody>
      </p:sp>
      <p:sp>
        <p:nvSpPr>
          <p:cNvPr id="15" name="TextBox 14"/>
          <p:cNvSpPr txBox="1"/>
          <p:nvPr/>
        </p:nvSpPr>
        <p:spPr>
          <a:xfrm>
            <a:off x="457200" y="4133850"/>
            <a:ext cx="5016500" cy="458787"/>
          </a:xfrm>
          <a:prstGeom prst="rect">
            <a:avLst/>
          </a:prstGeom>
          <a:noFill/>
        </p:spPr>
        <p:txBody>
          <a:bodyPr wrap="none" lIns="0" rIns="0" tIns="0" bIns="0" anchor="t">
            <a:spAutoFit/>
          </a:bodyPr>
          <a:lstStyle/>
          <a:p>
            <a:pPr>
              <a:lnSpc>
                <a:spcPts val="1841"/>
              </a:lnSpc>
              <a:spcBef>
                <a:spcPts val="0"/>
              </a:spcBef>
              <a:spcAft>
                <a:spcPts val="0"/>
              </a:spcAft>
              <a:defRPr sz="1450" b="0">
                <a:solidFill>
                  <a:srgbClr val="A5B3C0"/>
                </a:solidFill>
                <a:latin typeface="Roboto"/>
              </a:defRPr>
            </a:pPr>
            <a:r>
              <a:t>Read the URL from the Secret.</a:t>
            </a:r>
          </a:p>
        </p:txBody>
      </p:sp>
      <p:sp>
        <p:nvSpPr>
          <p:cNvPr id="16" name="TextBox 15"/>
          <p:cNvSpPr txBox="1"/>
          <p:nvPr/>
        </p:nvSpPr>
        <p:spPr>
          <a:xfrm>
            <a:off x="457200" y="4743450"/>
            <a:ext cx="5016500" cy="358775"/>
          </a:xfrm>
          <a:prstGeom prst="rect">
            <a:avLst/>
          </a:prstGeom>
          <a:noFill/>
        </p:spPr>
        <p:txBody>
          <a:bodyPr wrap="none" lIns="0" rIns="0" tIns="0" bIns="0" anchor="t">
            <a:spAutoFit/>
          </a:bodyPr>
          <a:lstStyle/>
          <a:p>
            <a:pPr>
              <a:lnSpc>
                <a:spcPts val="2159"/>
              </a:lnSpc>
              <a:spcBef>
                <a:spcPts val="0"/>
              </a:spcBef>
              <a:spcAft>
                <a:spcPts val="0"/>
              </a:spcAft>
              <a:defRPr sz="1700" b="1">
                <a:solidFill>
                  <a:srgbClr val="F0F4F8"/>
                </a:solidFill>
                <a:latin typeface="Roboto"/>
              </a:defRPr>
            </a:pPr>
            <a:r>
              <a:t>Memory limit</a:t>
            </a:r>
          </a:p>
        </p:txBody>
      </p:sp>
      <p:sp>
        <p:nvSpPr>
          <p:cNvPr id="17" name="TextBox 16"/>
          <p:cNvSpPr txBox="1"/>
          <p:nvPr/>
        </p:nvSpPr>
        <p:spPr>
          <a:xfrm>
            <a:off x="457200" y="5105400"/>
            <a:ext cx="5016500" cy="458787"/>
          </a:xfrm>
          <a:prstGeom prst="rect">
            <a:avLst/>
          </a:prstGeom>
          <a:noFill/>
        </p:spPr>
        <p:txBody>
          <a:bodyPr wrap="none" lIns="0" rIns="0" tIns="0" bIns="0" anchor="t">
            <a:spAutoFit/>
          </a:bodyPr>
          <a:lstStyle/>
          <a:p>
            <a:pPr>
              <a:lnSpc>
                <a:spcPts val="1841"/>
              </a:lnSpc>
              <a:spcBef>
                <a:spcPts val="0"/>
              </a:spcBef>
              <a:spcAft>
                <a:spcPts val="0"/>
              </a:spcAft>
              <a:defRPr sz="1450" b="0">
                <a:solidFill>
                  <a:srgbClr val="A5B3C0"/>
                </a:solidFill>
                <a:latin typeface="Roboto"/>
              </a:defRPr>
            </a:pPr>
            <a:r>
              <a:t>Raise the limit and verify the pod.</a:t>
            </a:r>
          </a:p>
        </p:txBody>
      </p:sp>
      <p:sp>
        <p:nvSpPr>
          <p:cNvPr id="18" name="Rectangle 17"/>
          <p:cNvSpPr/>
          <p:nvPr/>
        </p:nvSpPr>
        <p:spPr>
          <a:xfrm>
            <a:off x="6134100" y="1746250"/>
            <a:ext cx="5600700" cy="3746500"/>
          </a:xfrm>
          <a:prstGeom prst="rect">
            <a:avLst/>
          </a:prstGeom>
          <a:solidFill>
            <a:srgbClr val="0C1218"/>
          </a:solidFill>
          <a:ln w="7620">
            <a:solidFill>
              <a:srgbClr val="2531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23-terraform-destroy.png"/>
          <p:cNvPicPr>
            <a:picLocks noChangeAspect="1"/>
          </p:cNvPicPr>
          <p:nvPr/>
        </p:nvPicPr>
        <p:blipFill>
          <a:blip r:embed="rId3"/>
          <a:stretch>
            <a:fillRect/>
          </a:stretch>
        </p:blipFill>
        <p:spPr>
          <a:xfrm>
            <a:off x="6330785" y="1835150"/>
            <a:ext cx="5207329" cy="3200400"/>
          </a:xfrm>
          <a:prstGeom prst="rect">
            <a:avLst/>
          </a:prstGeom>
        </p:spPr>
      </p:pic>
      <p:sp>
        <p:nvSpPr>
          <p:cNvPr id="20" name="TextBox 19"/>
          <p:cNvSpPr txBox="1"/>
          <p:nvPr/>
        </p:nvSpPr>
        <p:spPr>
          <a:xfrm>
            <a:off x="6273800" y="5219700"/>
            <a:ext cx="5321300" cy="234950"/>
          </a:xfrm>
          <a:prstGeom prst="rect">
            <a:avLst/>
          </a:prstGeom>
          <a:noFill/>
        </p:spPr>
        <p:txBody>
          <a:bodyPr wrap="none" lIns="0" rIns="0" tIns="0" bIns="0" anchor="t">
            <a:spAutoFit/>
          </a:bodyPr>
          <a:lstStyle/>
          <a:p>
            <a:pPr>
              <a:lnSpc>
                <a:spcPts val="1270"/>
              </a:lnSpc>
              <a:spcBef>
                <a:spcPts val="0"/>
              </a:spcBef>
              <a:spcAft>
                <a:spcPts val="0"/>
              </a:spcAft>
              <a:defRPr sz="1000" b="0">
                <a:solidFill>
                  <a:srgbClr val="A5B3C0"/>
                </a:solidFill>
                <a:latin typeface="Roboto"/>
              </a:defRPr>
            </a:pPr>
            <a:r>
              <a:t>Saved teardown output: 60 resources destroyed</a:t>
            </a:r>
          </a:p>
        </p:txBody>
      </p:sp>
      <p:sp>
        <p:nvSpPr>
          <p:cNvPr id="21" name="TextBox 20"/>
          <p:cNvSpPr txBox="1"/>
          <p:nvPr/>
        </p:nvSpPr>
        <p:spPr>
          <a:xfrm>
            <a:off x="6134100" y="5734050"/>
            <a:ext cx="5600700" cy="622300"/>
          </a:xfrm>
          <a:prstGeom prst="rect">
            <a:avLst/>
          </a:prstGeom>
          <a:noFill/>
        </p:spPr>
        <p:txBody>
          <a:bodyPr wrap="none" lIns="0" rIns="0" tIns="0" bIns="0" anchor="t">
            <a:spAutoFit/>
          </a:bodyPr>
          <a:lstStyle/>
          <a:p>
            <a:pPr>
              <a:lnSpc>
                <a:spcPts val="2032"/>
              </a:lnSpc>
              <a:spcBef>
                <a:spcPts val="0"/>
              </a:spcBef>
              <a:spcAft>
                <a:spcPts val="0"/>
              </a:spcAft>
              <a:defRPr sz="1600" b="0">
                <a:solidFill>
                  <a:srgbClr val="C5F47A"/>
                </a:solidFill>
                <a:latin typeface="Roboto"/>
              </a:defRPr>
            </a:pPr>
            <a:r>
              <a:t>Deployment finished. Infrastructure removed.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Stockroom | DevOps Capstone</dc:title>
  <dc:subject>Application, delivery pipeline and captured AWS deployment</dc:subject>
  <dc:creator>Parth Sankhla</dc:creator>
  <cp:keywords>Stockroom, DevOps, capstone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